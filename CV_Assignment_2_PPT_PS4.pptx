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328" r:id="rId7"/>
    <p:sldId id="329" r:id="rId8"/>
    <p:sldId id="331" r:id="rId9"/>
    <p:sldId id="332" r:id="rId10"/>
    <p:sldId id="333" r:id="rId11"/>
    <p:sldId id="334" r:id="rId12"/>
    <p:sldId id="330" r:id="rId13"/>
    <p:sldId id="335" r:id="rId14"/>
    <p:sldId id="336" r:id="rId15"/>
    <p:sldId id="337" r:id="rId16"/>
    <p:sldId id="326" r:id="rId17"/>
    <p:sldId id="327" r:id="rId18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5" autoAdjust="0"/>
    <p:restoredTop sz="94635"/>
  </p:normalViewPr>
  <p:slideViewPr>
    <p:cSldViewPr>
      <p:cViewPr>
        <p:scale>
          <a:sx n="75" d="100"/>
          <a:sy n="75" d="100"/>
        </p:scale>
        <p:origin x="1498" y="-1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AC47D-616B-4B4E-9803-7063B3B92A18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3A1E8-225B-4231-AE0D-F09ECA0B9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23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50900"/>
            <a:ext cx="4756031" cy="5841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2009" y="1014890"/>
            <a:ext cx="2277324" cy="737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98662" y="2791567"/>
            <a:ext cx="5130165" cy="93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195083" y="4239850"/>
            <a:ext cx="3810634" cy="760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400" y="875242"/>
            <a:ext cx="600590" cy="60042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93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8831" y="2122088"/>
            <a:ext cx="8454390" cy="157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25444" y="2254250"/>
            <a:ext cx="10226656" cy="13208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100" u="heavy" spc="-20" dirty="0">
                <a:uFill>
                  <a:solidFill>
                    <a:srgbClr val="000000"/>
                  </a:solidFill>
                </a:uFill>
              </a:rPr>
              <a:t>Assignment 2 – Problem Statement 4</a:t>
            </a:r>
            <a:br>
              <a:rPr lang="en-IN" sz="3100" u="heavy" spc="-20" dirty="0">
                <a:uFill>
                  <a:solidFill>
                    <a:srgbClr val="000000"/>
                  </a:solidFill>
                </a:uFill>
              </a:rPr>
            </a:br>
            <a:r>
              <a:rPr lang="en-US" b="1" dirty="0"/>
              <a:t>Fine-Tuning a Text-to-Image Model Using Crowd-Sourced Text - Image Pairs</a:t>
            </a:r>
            <a:endParaRPr sz="3100" dirty="0"/>
          </a:p>
          <a:p>
            <a:pPr marL="12700">
              <a:lnSpc>
                <a:spcPts val="3565"/>
              </a:lnSpc>
            </a:pPr>
            <a:endParaRPr sz="3100" dirty="0"/>
          </a:p>
        </p:txBody>
      </p:sp>
      <p:sp>
        <p:nvSpPr>
          <p:cNvPr id="3" name="object 3"/>
          <p:cNvSpPr/>
          <p:nvPr/>
        </p:nvSpPr>
        <p:spPr>
          <a:xfrm>
            <a:off x="2908300" y="6397977"/>
            <a:ext cx="914400" cy="192360"/>
          </a:xfrm>
          <a:custGeom>
            <a:avLst/>
            <a:gdLst/>
            <a:ahLst/>
            <a:cxnLst/>
            <a:rect l="l" t="t" r="r" b="b"/>
            <a:pathLst>
              <a:path w="1237615" h="182245">
                <a:moveTo>
                  <a:pt x="1237276" y="0"/>
                </a:moveTo>
                <a:lnTo>
                  <a:pt x="0" y="0"/>
                </a:lnTo>
                <a:lnTo>
                  <a:pt x="0" y="181751"/>
                </a:lnTo>
                <a:lnTo>
                  <a:pt x="1237276" y="181751"/>
                </a:lnTo>
                <a:lnTo>
                  <a:pt x="123727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3433455" y="3989072"/>
            <a:ext cx="3810634" cy="37067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lang="en-IN" sz="2400" dirty="0">
                <a:latin typeface="Calibri"/>
                <a:cs typeface="Calibri"/>
              </a:rPr>
              <a:t>Group 143 Team Members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5957" y="6376617"/>
            <a:ext cx="9485630" cy="19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1415"/>
              </a:lnSpc>
              <a:spcBef>
                <a:spcPts val="100"/>
              </a:spcBef>
            </a:pPr>
            <a:r>
              <a:rPr lang="en-IN" sz="1200" spc="-10" dirty="0">
                <a:latin typeface="Arial MT"/>
                <a:cs typeface="Arial MT"/>
              </a:rPr>
              <a:t>Courtesy:           </a:t>
            </a:r>
            <a:r>
              <a:rPr sz="1200" dirty="0">
                <a:solidFill>
                  <a:srgbClr val="C00000"/>
                </a:solidFill>
                <a:latin typeface="Arial MT"/>
                <a:cs typeface="Arial MT"/>
              </a:rPr>
              <a:t>Slid</a:t>
            </a:r>
            <a:r>
              <a:rPr lang="en-IN" sz="1200" dirty="0">
                <a:solidFill>
                  <a:srgbClr val="C00000"/>
                </a:solidFill>
                <a:latin typeface="Arial MT"/>
                <a:cs typeface="Arial MT"/>
              </a:rPr>
              <a:t>es adopted from Computer Version lecture PPT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749" y="1097023"/>
            <a:ext cx="2277325" cy="737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902" y="2342481"/>
            <a:ext cx="8928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u="heavy" spc="-20" dirty="0">
                <a:uFill>
                  <a:solidFill>
                    <a:srgbClr val="000000"/>
                  </a:solidFill>
                </a:uFill>
              </a:rPr>
              <a:t>Topics</a:t>
            </a:r>
            <a:endParaRPr sz="2700" dirty="0"/>
          </a:p>
        </p:txBody>
      </p:sp>
      <p:sp>
        <p:nvSpPr>
          <p:cNvPr id="6" name="object 6"/>
          <p:cNvSpPr txBox="1"/>
          <p:nvPr/>
        </p:nvSpPr>
        <p:spPr>
          <a:xfrm>
            <a:off x="1411263" y="2934194"/>
            <a:ext cx="5147310" cy="2630207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010"/>
              </a:spcBef>
              <a:buFont typeface="Microsoft Sans Serif"/>
              <a:buChar char="●"/>
              <a:tabLst>
                <a:tab pos="363220" algn="l"/>
              </a:tabLst>
            </a:pPr>
            <a:r>
              <a:rPr lang="en-IN" sz="2000" dirty="0">
                <a:latin typeface="Calibri"/>
                <a:cs typeface="Calibri"/>
              </a:rPr>
              <a:t>Showing inference (already run code in some env)</a:t>
            </a:r>
            <a:endParaRPr sz="2000" dirty="0">
              <a:latin typeface="Calibri"/>
              <a:cs typeface="Calibri"/>
            </a:endParaRPr>
          </a:p>
          <a:p>
            <a:pPr marL="363220" indent="-350520">
              <a:lnSpc>
                <a:spcPct val="100000"/>
              </a:lnSpc>
              <a:spcBef>
                <a:spcPts val="915"/>
              </a:spcBef>
              <a:buFont typeface="Microsoft Sans Serif"/>
              <a:buChar char="●"/>
              <a:tabLst>
                <a:tab pos="363220" algn="l"/>
              </a:tabLst>
            </a:pPr>
            <a:r>
              <a:rPr lang="en-IN" sz="2000" dirty="0">
                <a:latin typeface="Calibri"/>
                <a:cs typeface="Calibri"/>
              </a:rPr>
              <a:t>Overall project flow</a:t>
            </a:r>
          </a:p>
          <a:p>
            <a:pPr marL="363220" indent="-350520">
              <a:lnSpc>
                <a:spcPct val="100000"/>
              </a:lnSpc>
              <a:spcBef>
                <a:spcPts val="915"/>
              </a:spcBef>
              <a:buFont typeface="Microsoft Sans Serif"/>
              <a:buChar char="●"/>
              <a:tabLst>
                <a:tab pos="363220" algn="l"/>
              </a:tabLst>
            </a:pPr>
            <a:r>
              <a:rPr lang="en-IN" sz="2000" dirty="0">
                <a:latin typeface="Calibri"/>
                <a:cs typeface="Calibri"/>
              </a:rPr>
              <a:t>Challenges (including most challenging aspect of problem statement)</a:t>
            </a:r>
          </a:p>
          <a:p>
            <a:pPr marL="363220" indent="-350520">
              <a:lnSpc>
                <a:spcPct val="100000"/>
              </a:lnSpc>
              <a:spcBef>
                <a:spcPts val="915"/>
              </a:spcBef>
              <a:buFont typeface="Microsoft Sans Serif"/>
              <a:buChar char="●"/>
              <a:tabLst>
                <a:tab pos="363220" algn="l"/>
              </a:tabLst>
            </a:pPr>
            <a:r>
              <a:rPr lang="en-IN" sz="2000" dirty="0">
                <a:latin typeface="Calibri"/>
                <a:cs typeface="Calibri"/>
              </a:rPr>
              <a:t>Real world use cases and Next Steps (Organization / Daily Life)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91675" y="6332755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0C47-5205-79AB-1548-B5F07EA53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738664"/>
          </a:xfrm>
        </p:spPr>
        <p:txBody>
          <a:bodyPr/>
          <a:lstStyle/>
          <a:p>
            <a:r>
              <a:rPr lang="en-US" dirty="0"/>
              <a:t>Showing inference (already run code in some env)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DD75C-3312-1E31-37FC-6F976CD6F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961" y="2122088"/>
            <a:ext cx="8866260" cy="38472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In local PC (to be demoed as well)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F45EC-E0C8-10D0-CDBB-BCDF59380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49" y="2794405"/>
            <a:ext cx="32385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03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17DB-C057-0E50-6036-C085D11C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EAD2-9005-175F-BCE9-8018BAA8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36933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915"/>
              </a:spcBef>
              <a:tabLst>
                <a:tab pos="363220" algn="l"/>
              </a:tabLst>
            </a:pPr>
            <a:r>
              <a:rPr lang="en-IN" dirty="0"/>
              <a:t>Overall project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478B8-93CF-203E-69AA-FFB05B20E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961" y="2122088"/>
            <a:ext cx="8866260" cy="23083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Setup 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Import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Import dataset and perform EDA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Data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Model preparation and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Output generation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230802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D1CC-E9C4-51ED-0792-6E6015E2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369332"/>
          </a:xfrm>
        </p:spPr>
        <p:txBody>
          <a:bodyPr/>
          <a:lstStyle/>
          <a:p>
            <a:r>
              <a:rPr lang="en-IN" dirty="0"/>
              <a:t>Project Flow – Exploratory Data Analysis</a:t>
            </a:r>
          </a:p>
        </p:txBody>
      </p:sp>
      <p:sp>
        <p:nvSpPr>
          <p:cNvPr id="5" name="Google Shape;124;p16">
            <a:extLst>
              <a:ext uri="{FF2B5EF4-FFF2-40B4-BE49-F238E27FC236}">
                <a16:creationId xmlns:a16="http://schemas.microsoft.com/office/drawing/2014/main" id="{F3C1E9E9-FF7A-C0A8-F137-0900B514F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1949450"/>
            <a:ext cx="3657600" cy="28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/>
            <a:r>
              <a:rPr lang="en-US" sz="1842" dirty="0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Dataset: </a:t>
            </a:r>
            <a:r>
              <a:rPr lang="en-US" sz="1842" dirty="0" err="1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TextCaps</a:t>
            </a:r>
            <a:endParaRPr dirty="0"/>
          </a:p>
        </p:txBody>
      </p:sp>
      <p:sp>
        <p:nvSpPr>
          <p:cNvPr id="6" name="Google Shape;125;p16">
            <a:extLst>
              <a:ext uri="{FF2B5EF4-FFF2-40B4-BE49-F238E27FC236}">
                <a16:creationId xmlns:a16="http://schemas.microsoft.com/office/drawing/2014/main" id="{AA4B13D1-254C-AE79-973A-4033C1F6E318}"/>
              </a:ext>
            </a:extLst>
          </p:cNvPr>
          <p:cNvSpPr txBox="1"/>
          <p:nvPr/>
        </p:nvSpPr>
        <p:spPr>
          <a:xfrm>
            <a:off x="332184" y="2510190"/>
            <a:ext cx="47201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Scale: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21,953 training samples containing natural text.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7" name="Google Shape;126;p16">
            <a:extLst>
              <a:ext uri="{FF2B5EF4-FFF2-40B4-BE49-F238E27FC236}">
                <a16:creationId xmlns:a16="http://schemas.microsoft.com/office/drawing/2014/main" id="{26329B5A-7478-40A9-4259-BB263F960677}"/>
              </a:ext>
            </a:extLst>
          </p:cNvPr>
          <p:cNvSpPr/>
          <p:nvPr/>
        </p:nvSpPr>
        <p:spPr>
          <a:xfrm>
            <a:off x="164255" y="2628895"/>
            <a:ext cx="25063" cy="250627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27;p16">
            <a:extLst>
              <a:ext uri="{FF2B5EF4-FFF2-40B4-BE49-F238E27FC236}">
                <a16:creationId xmlns:a16="http://schemas.microsoft.com/office/drawing/2014/main" id="{D566E92B-605C-A1B7-B61E-C4C5FF7B3F2A}"/>
              </a:ext>
            </a:extLst>
          </p:cNvPr>
          <p:cNvSpPr txBox="1"/>
          <p:nvPr/>
        </p:nvSpPr>
        <p:spPr>
          <a:xfrm>
            <a:off x="344507" y="3133391"/>
            <a:ext cx="47201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Content: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Diverse images (street signs, books, screens) with corresponding captions.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9" name="Google Shape;128;p16">
            <a:extLst>
              <a:ext uri="{FF2B5EF4-FFF2-40B4-BE49-F238E27FC236}">
                <a16:creationId xmlns:a16="http://schemas.microsoft.com/office/drawing/2014/main" id="{A274D5F4-6FBC-3E3D-9A28-E1DB58A2ADBE}"/>
              </a:ext>
            </a:extLst>
          </p:cNvPr>
          <p:cNvSpPr/>
          <p:nvPr/>
        </p:nvSpPr>
        <p:spPr>
          <a:xfrm>
            <a:off x="162222" y="3257014"/>
            <a:ext cx="25063" cy="501253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29;p16">
            <a:extLst>
              <a:ext uri="{FF2B5EF4-FFF2-40B4-BE49-F238E27FC236}">
                <a16:creationId xmlns:a16="http://schemas.microsoft.com/office/drawing/2014/main" id="{2AE91018-826B-74E7-4E4E-02B1CEE5F8DC}"/>
              </a:ext>
            </a:extLst>
          </p:cNvPr>
          <p:cNvSpPr txBox="1"/>
          <p:nvPr/>
        </p:nvSpPr>
        <p:spPr>
          <a:xfrm>
            <a:off x="332184" y="3758267"/>
            <a:ext cx="47201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Challenge: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High variability in font styles, perspectives, and occlusions.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1" name="Google Shape;130;p16">
            <a:extLst>
              <a:ext uri="{FF2B5EF4-FFF2-40B4-BE49-F238E27FC236}">
                <a16:creationId xmlns:a16="http://schemas.microsoft.com/office/drawing/2014/main" id="{259CE3AA-49D3-9DFA-215A-FF655291D3AF}"/>
              </a:ext>
            </a:extLst>
          </p:cNvPr>
          <p:cNvSpPr/>
          <p:nvPr/>
        </p:nvSpPr>
        <p:spPr>
          <a:xfrm>
            <a:off x="152568" y="3876972"/>
            <a:ext cx="25063" cy="501253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1;p16">
            <a:extLst>
              <a:ext uri="{FF2B5EF4-FFF2-40B4-BE49-F238E27FC236}">
                <a16:creationId xmlns:a16="http://schemas.microsoft.com/office/drawing/2014/main" id="{5A84D050-213C-9EFE-6A36-247A16FB12BA}"/>
              </a:ext>
            </a:extLst>
          </p:cNvPr>
          <p:cNvSpPr txBox="1"/>
          <p:nvPr/>
        </p:nvSpPr>
        <p:spPr>
          <a:xfrm>
            <a:off x="332184" y="4515202"/>
            <a:ext cx="472013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Preprocessing:</a:t>
            </a:r>
            <a:r>
              <a:rPr lang="en-US" sz="1600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Images are "squished" to 512x512 to preserve text features that might be lost in cropping.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3" name="Google Shape;132;p16">
            <a:extLst>
              <a:ext uri="{FF2B5EF4-FFF2-40B4-BE49-F238E27FC236}">
                <a16:creationId xmlns:a16="http://schemas.microsoft.com/office/drawing/2014/main" id="{461B2315-2E18-D04D-4EF4-E9CF8D4207AA}"/>
              </a:ext>
            </a:extLst>
          </p:cNvPr>
          <p:cNvSpPr/>
          <p:nvPr/>
        </p:nvSpPr>
        <p:spPr>
          <a:xfrm>
            <a:off x="140037" y="4730233"/>
            <a:ext cx="25063" cy="501253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33;p16" descr="image.png">
            <a:extLst>
              <a:ext uri="{FF2B5EF4-FFF2-40B4-BE49-F238E27FC236}">
                <a16:creationId xmlns:a16="http://schemas.microsoft.com/office/drawing/2014/main" id="{F3FCC607-66D2-DC7D-A8C8-6D01BEFA20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92644" y="2272633"/>
            <a:ext cx="5129491" cy="34078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68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785F-AC69-1EBF-8AF4-41D5C56BE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B3A1-CC8B-5327-9D89-17BC3DF1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738664"/>
          </a:xfrm>
        </p:spPr>
        <p:txBody>
          <a:bodyPr/>
          <a:lstStyle/>
          <a:p>
            <a:r>
              <a:rPr lang="en-US" dirty="0"/>
              <a:t>Model Structure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9ED5B-9F18-ADD8-2D95-76F7C1D13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961" y="2122088"/>
            <a:ext cx="8866260" cy="38472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Stable Diffusion + </a:t>
            </a:r>
            <a:r>
              <a:rPr lang="en-IN" dirty="0" err="1"/>
              <a:t>LoRA</a:t>
            </a:r>
            <a:r>
              <a:rPr lang="en-IN" dirty="0"/>
              <a:t> is used</a:t>
            </a:r>
          </a:p>
        </p:txBody>
      </p:sp>
      <p:pic>
        <p:nvPicPr>
          <p:cNvPr id="4" name="Google Shape;142;p17" descr="image.png">
            <a:extLst>
              <a:ext uri="{FF2B5EF4-FFF2-40B4-BE49-F238E27FC236}">
                <a16:creationId xmlns:a16="http://schemas.microsoft.com/office/drawing/2014/main" id="{95FF620C-CBC7-B287-2856-CC4BD9402BC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8981" y="2699511"/>
            <a:ext cx="4870510" cy="24582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3;p17">
            <a:extLst>
              <a:ext uri="{FF2B5EF4-FFF2-40B4-BE49-F238E27FC236}">
                <a16:creationId xmlns:a16="http://schemas.microsoft.com/office/drawing/2014/main" id="{2E18367F-69FF-F053-04FC-D7E6B6615042}"/>
              </a:ext>
            </a:extLst>
          </p:cNvPr>
          <p:cNvSpPr txBox="1"/>
          <p:nvPr/>
        </p:nvSpPr>
        <p:spPr>
          <a:xfrm>
            <a:off x="5722640" y="2959536"/>
            <a:ext cx="4720134" cy="30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b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Base Model:</a:t>
            </a:r>
            <a:r>
              <a:rPr lang="en-US" sz="1316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Stable Diffusion v1.5 (RunwayML).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Google Shape;144;p17">
            <a:extLst>
              <a:ext uri="{FF2B5EF4-FFF2-40B4-BE49-F238E27FC236}">
                <a16:creationId xmlns:a16="http://schemas.microsoft.com/office/drawing/2014/main" id="{04101108-CA9D-ECBD-141F-C2F2C6E5277A}"/>
              </a:ext>
            </a:extLst>
          </p:cNvPr>
          <p:cNvSpPr/>
          <p:nvPr/>
        </p:nvSpPr>
        <p:spPr>
          <a:xfrm>
            <a:off x="5555556" y="2959536"/>
            <a:ext cx="25063" cy="250627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5;p17">
            <a:extLst>
              <a:ext uri="{FF2B5EF4-FFF2-40B4-BE49-F238E27FC236}">
                <a16:creationId xmlns:a16="http://schemas.microsoft.com/office/drawing/2014/main" id="{90163BEA-C011-D489-7F42-80299CB593CA}"/>
              </a:ext>
            </a:extLst>
          </p:cNvPr>
          <p:cNvSpPr txBox="1"/>
          <p:nvPr/>
        </p:nvSpPr>
        <p:spPr>
          <a:xfrm>
            <a:off x="5722640" y="3335477"/>
            <a:ext cx="4720134" cy="91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b="1" dirty="0" err="1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LoRA</a:t>
            </a:r>
            <a:r>
              <a:rPr lang="en-US" sz="1316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(Low-Rank Adaptation):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Efficient fine-tuning by injecting rank decomposition matrices into the U-Net. Rank 64 used for higher expressivity.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Google Shape;146;p17">
            <a:extLst>
              <a:ext uri="{FF2B5EF4-FFF2-40B4-BE49-F238E27FC236}">
                <a16:creationId xmlns:a16="http://schemas.microsoft.com/office/drawing/2014/main" id="{A6BE7F56-292B-618E-6873-AE6AC345224F}"/>
              </a:ext>
            </a:extLst>
          </p:cNvPr>
          <p:cNvSpPr/>
          <p:nvPr/>
        </p:nvSpPr>
        <p:spPr>
          <a:xfrm>
            <a:off x="5555556" y="3335476"/>
            <a:ext cx="25063" cy="751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7;p17">
            <a:extLst>
              <a:ext uri="{FF2B5EF4-FFF2-40B4-BE49-F238E27FC236}">
                <a16:creationId xmlns:a16="http://schemas.microsoft.com/office/drawing/2014/main" id="{B04AC6FB-B4EC-9EFA-11E1-F109E86279A5}"/>
              </a:ext>
            </a:extLst>
          </p:cNvPr>
          <p:cNvSpPr txBox="1"/>
          <p:nvPr/>
        </p:nvSpPr>
        <p:spPr>
          <a:xfrm>
            <a:off x="5722640" y="4212670"/>
            <a:ext cx="4720134" cy="121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SNR Gamma Weighting: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Critical for text. Standard diffusion loss neglects high-frequency details (like text edges) at certain noise levels. Gamma=5.0 forces the model to focus on these structural details.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Google Shape;148;p17">
            <a:extLst>
              <a:ext uri="{FF2B5EF4-FFF2-40B4-BE49-F238E27FC236}">
                <a16:creationId xmlns:a16="http://schemas.microsoft.com/office/drawing/2014/main" id="{B453AEB2-B60B-DC26-5D5F-327D143C9506}"/>
              </a:ext>
            </a:extLst>
          </p:cNvPr>
          <p:cNvSpPr/>
          <p:nvPr/>
        </p:nvSpPr>
        <p:spPr>
          <a:xfrm>
            <a:off x="5555556" y="4212670"/>
            <a:ext cx="25063" cy="100250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4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6D90-F6AC-A36E-0996-DE9ECE33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369332"/>
          </a:xfrm>
        </p:spPr>
        <p:txBody>
          <a:bodyPr/>
          <a:lstStyle/>
          <a:p>
            <a:r>
              <a:rPr lang="en-IN" dirty="0"/>
              <a:t>Stable Diffusion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1D1AF-BECB-EF5E-A459-7F8227ACA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DB2C64-FEA0-D811-6C3B-4CED4181F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" y="1963267"/>
            <a:ext cx="10693399" cy="362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9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850A-3FF7-82B7-6760-FEDAC4C1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369332"/>
          </a:xfrm>
        </p:spPr>
        <p:txBody>
          <a:bodyPr/>
          <a:lstStyle/>
          <a:p>
            <a:r>
              <a:rPr lang="en-IN" dirty="0"/>
              <a:t>Evaluation Methodology</a:t>
            </a:r>
          </a:p>
        </p:txBody>
      </p:sp>
      <p:sp>
        <p:nvSpPr>
          <p:cNvPr id="4" name="Google Shape;156;p18">
            <a:extLst>
              <a:ext uri="{FF2B5EF4-FFF2-40B4-BE49-F238E27FC236}">
                <a16:creationId xmlns:a16="http://schemas.microsoft.com/office/drawing/2014/main" id="{E66110EC-B45B-4F43-0956-26E9D387C4F2}"/>
              </a:ext>
            </a:extLst>
          </p:cNvPr>
          <p:cNvSpPr txBox="1"/>
          <p:nvPr/>
        </p:nvSpPr>
        <p:spPr>
          <a:xfrm>
            <a:off x="250627" y="2441575"/>
            <a:ext cx="5131579" cy="28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/>
            <a:r>
              <a:rPr lang="en-US" sz="1842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OCR-Based Metric</a:t>
            </a:r>
            <a:endParaRPr/>
          </a:p>
        </p:txBody>
      </p:sp>
      <p:sp>
        <p:nvSpPr>
          <p:cNvPr id="5" name="Google Shape;157;p18">
            <a:extLst>
              <a:ext uri="{FF2B5EF4-FFF2-40B4-BE49-F238E27FC236}">
                <a16:creationId xmlns:a16="http://schemas.microsoft.com/office/drawing/2014/main" id="{DB7450A9-B00B-2B37-56A5-77F621C7EA2D}"/>
              </a:ext>
            </a:extLst>
          </p:cNvPr>
          <p:cNvSpPr txBox="1"/>
          <p:nvPr/>
        </p:nvSpPr>
        <p:spPr>
          <a:xfrm>
            <a:off x="250627" y="2892703"/>
            <a:ext cx="4887218" cy="91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Subjective visual inspection is insufficient for text models. We quantify readability using an Optical Character Recognition (OCR) pipeline.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Google Shape;158;p18">
            <a:extLst>
              <a:ext uri="{FF2B5EF4-FFF2-40B4-BE49-F238E27FC236}">
                <a16:creationId xmlns:a16="http://schemas.microsoft.com/office/drawing/2014/main" id="{AF61E881-DFB4-5A96-4032-3489CE9949F2}"/>
              </a:ext>
            </a:extLst>
          </p:cNvPr>
          <p:cNvSpPr txBox="1"/>
          <p:nvPr/>
        </p:nvSpPr>
        <p:spPr>
          <a:xfrm>
            <a:off x="417711" y="3811667"/>
            <a:ext cx="4720134" cy="30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Tool: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Tesseract OCR engine applied to generated images.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Google Shape;159;p18">
            <a:extLst>
              <a:ext uri="{FF2B5EF4-FFF2-40B4-BE49-F238E27FC236}">
                <a16:creationId xmlns:a16="http://schemas.microsoft.com/office/drawing/2014/main" id="{B946C182-B3D1-FC00-5597-9C4D15C2BC57}"/>
              </a:ext>
            </a:extLst>
          </p:cNvPr>
          <p:cNvSpPr/>
          <p:nvPr/>
        </p:nvSpPr>
        <p:spPr>
          <a:xfrm>
            <a:off x="250627" y="3811667"/>
            <a:ext cx="25063" cy="250627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60;p18">
            <a:extLst>
              <a:ext uri="{FF2B5EF4-FFF2-40B4-BE49-F238E27FC236}">
                <a16:creationId xmlns:a16="http://schemas.microsoft.com/office/drawing/2014/main" id="{E3FA940B-4471-97A5-1A18-010C37F5CE5F}"/>
              </a:ext>
            </a:extLst>
          </p:cNvPr>
          <p:cNvSpPr txBox="1"/>
          <p:nvPr/>
        </p:nvSpPr>
        <p:spPr>
          <a:xfrm>
            <a:off x="417711" y="4187607"/>
            <a:ext cx="4720134" cy="60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Sampling: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"Best of 3" and "Best of 10" generation strategies to maximize hit rate.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Google Shape;161;p18">
            <a:extLst>
              <a:ext uri="{FF2B5EF4-FFF2-40B4-BE49-F238E27FC236}">
                <a16:creationId xmlns:a16="http://schemas.microsoft.com/office/drawing/2014/main" id="{9F1B151B-C666-124E-A3C7-8D7B9C1F802F}"/>
              </a:ext>
            </a:extLst>
          </p:cNvPr>
          <p:cNvSpPr/>
          <p:nvPr/>
        </p:nvSpPr>
        <p:spPr>
          <a:xfrm>
            <a:off x="250627" y="4187607"/>
            <a:ext cx="25063" cy="501253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62;p18">
            <a:extLst>
              <a:ext uri="{FF2B5EF4-FFF2-40B4-BE49-F238E27FC236}">
                <a16:creationId xmlns:a16="http://schemas.microsoft.com/office/drawing/2014/main" id="{4B078984-2BFD-C0FB-B683-FBC6AE111415}"/>
              </a:ext>
            </a:extLst>
          </p:cNvPr>
          <p:cNvSpPr txBox="1"/>
          <p:nvPr/>
        </p:nvSpPr>
        <p:spPr>
          <a:xfrm>
            <a:off x="417711" y="4814173"/>
            <a:ext cx="4720134" cy="607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316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Metric: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Intersection of characters between the </a:t>
            </a:r>
            <a:r>
              <a:rPr lang="en-US" sz="1316" i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Prompt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and the </a:t>
            </a:r>
            <a:r>
              <a:rPr lang="en-US" sz="1316" i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OCR Output</a:t>
            </a:r>
            <a:r>
              <a:rPr lang="en-US" sz="1316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Google Shape;163;p18">
            <a:extLst>
              <a:ext uri="{FF2B5EF4-FFF2-40B4-BE49-F238E27FC236}">
                <a16:creationId xmlns:a16="http://schemas.microsoft.com/office/drawing/2014/main" id="{00BBF387-AB39-EBB6-3277-449E8199D949}"/>
              </a:ext>
            </a:extLst>
          </p:cNvPr>
          <p:cNvSpPr/>
          <p:nvPr/>
        </p:nvSpPr>
        <p:spPr>
          <a:xfrm>
            <a:off x="250627" y="4814173"/>
            <a:ext cx="25063" cy="501253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/>
            <a:endParaRPr sz="157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64;p18" descr="image.png">
            <a:extLst>
              <a:ext uri="{FF2B5EF4-FFF2-40B4-BE49-F238E27FC236}">
                <a16:creationId xmlns:a16="http://schemas.microsoft.com/office/drawing/2014/main" id="{75C614CE-2EFE-6B41-3A1E-1013CBFE310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63910" y="2428652"/>
            <a:ext cx="4870510" cy="2999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709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61FD4-CA1E-9ADA-31E6-04E37AC9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62AF-106F-0D06-A523-6D4369D9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738664"/>
          </a:xfrm>
        </p:spPr>
        <p:txBody>
          <a:bodyPr/>
          <a:lstStyle/>
          <a:p>
            <a:pPr marL="363220" indent="-350520">
              <a:lnSpc>
                <a:spcPct val="100000"/>
              </a:lnSpc>
              <a:spcBef>
                <a:spcPts val="915"/>
              </a:spcBef>
              <a:buFont typeface="Microsoft Sans Serif"/>
              <a:buChar char="●"/>
              <a:tabLst>
                <a:tab pos="363220" algn="l"/>
              </a:tabLst>
            </a:pPr>
            <a:r>
              <a:rPr lang="en-IN" dirty="0"/>
              <a:t>Challenges (including most challenging aspect of problem statement)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44372-D46E-A535-A8F3-E2601A9E2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6961" y="2122088"/>
            <a:ext cx="8866260" cy="4585871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Choosing the right dataset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Issues: Some datasets just had images, some with one word captions as identification etc.,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Image samples taken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If number of images taken are more, then in local PC / </a:t>
            </a:r>
            <a:r>
              <a:rPr lang="en-IN" dirty="0" err="1"/>
              <a:t>Colab</a:t>
            </a:r>
            <a:r>
              <a:rPr lang="en-IN" dirty="0"/>
              <a:t> things crash. This gives an intuition to think on how to implement this in production environment later.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Model Used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Stable diffusion v1.5 generates very good images, but there more advanced models in Stable diffusion as well which gives a lot accurate image. It is powerful.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However, using this model gave a very nice idea of how to implement a text-based rendering + image generation + OCR activity, it gives a feel of providing a Nano Banana proto version as an application ;) that’s one plus point of this assignment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OCR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Finding right OCR was a bit difficult to us (alternates), although Tesseract is used widely.</a:t>
            </a:r>
          </a:p>
        </p:txBody>
      </p:sp>
    </p:spTree>
    <p:extLst>
      <p:ext uri="{BB962C8B-B14F-4D97-AF65-F5344CB8AC3E}">
        <p14:creationId xmlns:p14="http://schemas.microsoft.com/office/powerpoint/2010/main" val="204588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E949-FB29-95A6-E0CB-8C3756DF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738664"/>
          </a:xfrm>
        </p:spPr>
        <p:txBody>
          <a:bodyPr/>
          <a:lstStyle/>
          <a:p>
            <a:r>
              <a:rPr lang="en-IN" dirty="0"/>
              <a:t>Challenges – Contd. (including most challenging aspect of problem statement)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E97C9-F849-C2D0-341E-D79E2E9A9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831" y="2122088"/>
            <a:ext cx="8454390" cy="467820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Model related – Gradient optimization (Adam 8 bit vs Adam&lt;&gt;, no. of training samples, </a:t>
            </a:r>
            <a:r>
              <a:rPr lang="en-IN" dirty="0" err="1"/>
              <a:t>LoRA</a:t>
            </a:r>
            <a:r>
              <a:rPr lang="en-IN" dirty="0"/>
              <a:t> Configuration effects, number of training steps (if less = underfitting, learning rate related – higher one created data loss)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Preprocessing related – Image cropping vs image squishing (impacts on how important words are missed with cropping e.g., CROP may be visible as RO)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Inference stage: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Stuttering of text generated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OCR hallucinations</a:t>
            </a:r>
          </a:p>
          <a:p>
            <a:pPr marL="914400" lvl="1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583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8D4A-E56F-0487-F8B2-D586DB01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369332"/>
          </a:xfrm>
        </p:spPr>
        <p:txBody>
          <a:bodyPr/>
          <a:lstStyle/>
          <a:p>
            <a:r>
              <a:rPr lang="en-IN" dirty="0"/>
              <a:t>Next steps and how it can be applied in projects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21F6-B2A9-D9A9-36CC-AC0B79362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831" y="2122088"/>
            <a:ext cx="8454390" cy="176971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Apply in GenAI related projects, or in any project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Example 1: Image generation for tutorials from customer support 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Example 2: Knowledge sharing across teams, for this images can be created (something like a training agent)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Example 3: Personal – create similar to Nano Banana with no cost (only PC required)</a:t>
            </a:r>
          </a:p>
        </p:txBody>
      </p:sp>
    </p:spTree>
    <p:extLst>
      <p:ext uri="{BB962C8B-B14F-4D97-AF65-F5344CB8AC3E}">
        <p14:creationId xmlns:p14="http://schemas.microsoft.com/office/powerpoint/2010/main" val="344887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8E5B-03D7-7889-6495-4BE0385C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961" y="1095828"/>
            <a:ext cx="8839477" cy="369332"/>
          </a:xfrm>
        </p:spPr>
        <p:txBody>
          <a:bodyPr/>
          <a:lstStyle/>
          <a:p>
            <a:r>
              <a:rPr lang="en-IN" dirty="0"/>
              <a:t>Live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61115-A2BB-A286-0ADB-3D81CE285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95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598" y="0"/>
                </a:moveTo>
                <a:lnTo>
                  <a:pt x="0" y="0"/>
                </a:lnTo>
                <a:lnTo>
                  <a:pt x="0" y="5841998"/>
                </a:lnTo>
                <a:lnTo>
                  <a:pt x="10388598" y="5841998"/>
                </a:lnTo>
                <a:lnTo>
                  <a:pt x="10388598" y="0"/>
                </a:lnTo>
                <a:close/>
              </a:path>
            </a:pathLst>
          </a:custGeom>
          <a:solidFill>
            <a:srgbClr val="E9E6D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75242"/>
            <a:ext cx="600590" cy="6004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1838" y="1776036"/>
            <a:ext cx="9238615" cy="2516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600" dirty="0"/>
              <a:t>Our starting point of reference, and model specifics:</a:t>
            </a:r>
          </a:p>
          <a:p>
            <a:pPr marL="342900" lvl="5" indent="-342900">
              <a:buFont typeface="+mj-lt"/>
              <a:buAutoNum type="arabicPeriod"/>
            </a:pPr>
            <a:r>
              <a:rPr lang="en-IN" sz="1600" dirty="0"/>
              <a:t>Research paper: https://arxiv.org/abs/2003.12462</a:t>
            </a:r>
          </a:p>
          <a:p>
            <a:pPr marL="342900" lvl="4" indent="-342900">
              <a:buFont typeface="+mj-lt"/>
              <a:buAutoNum type="arabicPeriod"/>
            </a:pPr>
            <a:r>
              <a:rPr lang="en-IN" sz="1600" dirty="0"/>
              <a:t>Dataset: </a:t>
            </a:r>
          </a:p>
          <a:p>
            <a:pPr marL="342900" lvl="4" indent="-342900">
              <a:buFont typeface="+mj-lt"/>
              <a:buAutoNum type="arabicPeriod"/>
            </a:pPr>
            <a:r>
              <a:rPr lang="en-IN" sz="1600" dirty="0"/>
              <a:t>    - (only for understanding domain specifics, not used for assignment): COCO dataset - https://cocodataset.org/</a:t>
            </a:r>
          </a:p>
          <a:p>
            <a:pPr marL="342900" lvl="4" indent="-342900">
              <a:buFont typeface="+mj-lt"/>
              <a:buAutoNum type="arabicPeriod"/>
            </a:pPr>
            <a:r>
              <a:rPr lang="en-IN" sz="1600" dirty="0"/>
              <a:t>    - Dataset selected: </a:t>
            </a:r>
            <a:r>
              <a:rPr lang="en-IN" sz="1600" dirty="0" err="1"/>
              <a:t>lmms</a:t>
            </a:r>
            <a:r>
              <a:rPr lang="en-IN" sz="1600" dirty="0"/>
              <a:t>-lab/</a:t>
            </a:r>
            <a:r>
              <a:rPr lang="en-IN" sz="1600" dirty="0" err="1"/>
              <a:t>TextCaps</a:t>
            </a:r>
            <a:r>
              <a:rPr lang="en-IN" sz="1600" dirty="0"/>
              <a:t> (https://huggingface.co/datasets/lmms-lab/TextCaps)</a:t>
            </a:r>
          </a:p>
          <a:p>
            <a:pPr marL="342900" lvl="4" indent="-342900">
              <a:buFont typeface="+mj-lt"/>
              <a:buAutoNum type="arabicPeriod"/>
            </a:pPr>
            <a:r>
              <a:rPr lang="en-IN" sz="1600" dirty="0"/>
              <a:t>Pre-trained model: Stable Diffusion (https://huggingface.co/CompVis/stable-diffusion-v1-4)</a:t>
            </a:r>
          </a:p>
          <a:p>
            <a:pPr marL="342900" lvl="4" indent="-342900">
              <a:buFont typeface="+mj-lt"/>
              <a:buAutoNum type="arabicPeriod"/>
            </a:pPr>
            <a:r>
              <a:rPr lang="en-IN" sz="1600" dirty="0"/>
              <a:t>OCR engine: Tesseract OCR</a:t>
            </a:r>
          </a:p>
          <a:p>
            <a:pPr marL="342900" lvl="4" indent="-342900">
              <a:buFont typeface="+mj-lt"/>
              <a:buAutoNum type="arabicPeriod"/>
            </a:pPr>
            <a:r>
              <a:rPr lang="en-IN" sz="1600" dirty="0"/>
              <a:t>Evaluation metric: Character-level accuracy (</a:t>
            </a:r>
            <a:r>
              <a:rPr lang="en-IN" sz="1600" dirty="0" err="1"/>
              <a:t>Levenshtein</a:t>
            </a:r>
            <a:r>
              <a:rPr lang="en-IN" sz="1600" dirty="0"/>
              <a:t> distance)</a:t>
            </a:r>
          </a:p>
          <a:p>
            <a:pPr marL="27940">
              <a:lnSpc>
                <a:spcPts val="2300"/>
              </a:lnSpc>
              <a:spcBef>
                <a:spcPts val="100"/>
              </a:spcBef>
              <a:tabLst>
                <a:tab pos="312420" algn="l"/>
              </a:tabLst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2021" y="6332755"/>
            <a:ext cx="1174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71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850900"/>
            <a:ext cx="4756031" cy="5841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2009" y="1014890"/>
            <a:ext cx="2277324" cy="7376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08118" y="4327759"/>
            <a:ext cx="165544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dirty="0">
                <a:latin typeface="Calibri"/>
                <a:cs typeface="Calibri"/>
              </a:rPr>
              <a:t>Thank</a:t>
            </a:r>
            <a:r>
              <a:rPr sz="3100" spc="-130" dirty="0">
                <a:latin typeface="Calibri"/>
                <a:cs typeface="Calibri"/>
              </a:rPr>
              <a:t> </a:t>
            </a:r>
            <a:r>
              <a:rPr sz="3100" spc="-25" dirty="0">
                <a:latin typeface="Calibri"/>
                <a:cs typeface="Calibri"/>
              </a:rPr>
              <a:t>you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2021" y="6332755"/>
            <a:ext cx="1174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72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28" ma:contentTypeDescription="Create a new document." ma:contentTypeScope="" ma:versionID="3e77ea0fa67430bd0006e4a15a485756">
  <xsd:schema xmlns:xsd="http://www.w3.org/2001/XMLSchema" xmlns:xs="http://www.w3.org/2001/XMLSchema" xmlns:p="http://schemas.microsoft.com/office/2006/metadata/properties" xmlns:ns2="0a2451e9-b2b7-43a3-aada-52e3e0c35c47" targetNamespace="http://schemas.microsoft.com/office/2006/metadata/properties" ma:root="true" ma:fieldsID="7e795a724d60f1e1aa99d22fed30d682" ns2:_="">
    <xsd:import namespace="0a2451e9-b2b7-43a3-aada-52e3e0c35c4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591F12-C177-4E8B-9306-07522BEB06B6}">
  <ds:schemaRefs>
    <ds:schemaRef ds:uri="http://schemas.microsoft.com/office/2006/metadata/properties"/>
    <ds:schemaRef ds:uri="http://schemas.microsoft.com/office/infopath/2007/PartnerControls"/>
    <ds:schemaRef ds:uri="0a2451e9-b2b7-43a3-aada-52e3e0c35c47"/>
  </ds:schemaRefs>
</ds:datastoreItem>
</file>

<file path=customXml/itemProps2.xml><?xml version="1.0" encoding="utf-8"?>
<ds:datastoreItem xmlns:ds="http://schemas.openxmlformats.org/officeDocument/2006/customXml" ds:itemID="{570C836D-1334-4C75-AD5B-CB31186601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2451e9-b2b7-43a3-aada-52e3e0c35c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8A1608-047B-4D55-8D5C-DF9B3BE718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5998</TotalTime>
  <Words>759</Words>
  <Application>Microsoft Office PowerPoint</Application>
  <PresentationFormat>Custom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MT</vt:lpstr>
      <vt:lpstr>Calibri</vt:lpstr>
      <vt:lpstr>Lucida Sans Unicode</vt:lpstr>
      <vt:lpstr>Microsoft Sans Serif</vt:lpstr>
      <vt:lpstr>Urbanist</vt:lpstr>
      <vt:lpstr>Urbanist Medium</vt:lpstr>
      <vt:lpstr>Office Theme</vt:lpstr>
      <vt:lpstr>Assignment 2 – Problem Statement 4 Fine-Tuning a Text-to-Image Model Using Crowd-Sourced Text - Image Pairs </vt:lpstr>
      <vt:lpstr>Topics</vt:lpstr>
      <vt:lpstr>Showing inference (already run code in some env) </vt:lpstr>
      <vt:lpstr>Overall project flow</vt:lpstr>
      <vt:lpstr>Project Flow – Exploratory Data Analysis</vt:lpstr>
      <vt:lpstr>Model Structure </vt:lpstr>
      <vt:lpstr>Stable Diffusion Architecture</vt:lpstr>
      <vt:lpstr>Evaluation Methodology</vt:lpstr>
      <vt:lpstr>Challenges (including most challenging aspect of problem statement)</vt:lpstr>
      <vt:lpstr>Challenges – Contd. (including most challenging aspect of problem statement)</vt:lpstr>
      <vt:lpstr>Next steps and how it can be applied in projects</vt:lpstr>
      <vt:lpstr>Live Demo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4 Edge Detection Line Detection</dc:title>
  <dc:creator>Adhikary, Dhruba</dc:creator>
  <cp:lastModifiedBy>Srinivasan R</cp:lastModifiedBy>
  <cp:revision>15</cp:revision>
  <dcterms:created xsi:type="dcterms:W3CDTF">2025-07-12T06:57:43Z</dcterms:created>
  <dcterms:modified xsi:type="dcterms:W3CDTF">2026-02-14T17:11:12Z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2025-06-02T00:00:00Z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2025-07-12T00:00:00Z</vt:filetime>
  </property>
  <property fmtid="{D5CDD505-2E9C-101B-9397-08002B2CF9AE}" pid="5" name="Producer">
    <vt:lpwstr>macOS Version 15.5 (Build 24F74) Quartz PDFContext</vt:lpwstr>
  </property>
  <property fmtid="{D5CDD505-2E9C-101B-9397-08002B2CF9AE}" pid="6" name="ContentTypeId">
    <vt:lpwstr>0x0101000A75E3588147654284604D4E812B6D70</vt:lpwstr>
  </property>
</Properties>
</file>